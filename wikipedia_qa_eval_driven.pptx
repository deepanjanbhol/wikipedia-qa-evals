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438912"/>
            <a:ext cx="8321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Evaluation-Driven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QA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84048" y="19385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Wikipedia · Prompt Engineering · Hill Climbing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" y="2487168"/>
            <a:ext cx="1828800" cy="502920"/>
          </a:xfrm>
          <a:prstGeom prst="rect">
            <a:avLst/>
          </a:prstGeom>
          <a:solidFill>
            <a:srgbClr val="24335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12848" y="2487168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14016" y="2487168"/>
            <a:ext cx="1828800" cy="502920"/>
          </a:xfrm>
          <a:prstGeom prst="rect">
            <a:avLst/>
          </a:prstGeom>
          <a:solidFill>
            <a:srgbClr val="24335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14016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42816" y="2487168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3984" y="2487168"/>
            <a:ext cx="1828800" cy="502920"/>
          </a:xfrm>
          <a:prstGeom prst="rect">
            <a:avLst/>
          </a:prstGeom>
          <a:solidFill>
            <a:srgbClr val="24335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72784" y="2487168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73952" y="2487168"/>
            <a:ext cx="1828800" cy="502920"/>
          </a:xfrm>
          <a:prstGeom prst="rect">
            <a:avLst/>
          </a:prstGeom>
          <a:solidFill>
            <a:srgbClr val="27AE6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Behavior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309067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challenge was evaluation, not search.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3159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0" y="4425696"/>
            <a:ext cx="0" cy="59436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43159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4425696"/>
            <a:ext cx="0" cy="59436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3159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4425696"/>
            <a:ext cx="0" cy="59436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3159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" y="39867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Deepanjan Bhol  ·  deepanjanbhol@gmail.com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Choices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2608" y="749808"/>
            <a:ext cx="283464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7498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709928" y="1207008"/>
            <a:ext cx="0" cy="164592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81912" y="1188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" y="1389888"/>
            <a:ext cx="2834640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709928" y="1847088"/>
            <a:ext cx="0" cy="164592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81912" y="1828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2029968"/>
            <a:ext cx="2834640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" y="20299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Search Tool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709928" y="2487168"/>
            <a:ext cx="0" cy="164592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81912" y="24688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2670048"/>
            <a:ext cx="2834640" cy="457200"/>
          </a:xfrm>
          <a:prstGeom prst="rect">
            <a:avLst/>
          </a:prstGeom>
          <a:solidFill>
            <a:srgbClr val="243356"/>
          </a:solidFill>
          <a:ln w="12700">
            <a:solidFill>
              <a:srgbClr val="24335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2608" y="26700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Evidence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709928" y="3127248"/>
            <a:ext cx="0" cy="164592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81912" y="31089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3310128"/>
            <a:ext cx="283464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" y="3310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Grounding Check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83280" y="749808"/>
            <a:ext cx="5486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749808"/>
            <a:ext cx="5486400" cy="438912"/>
          </a:xfrm>
          <a:prstGeom prst="rect">
            <a:avLst/>
          </a:prstGeom>
          <a:solidFill>
            <a:srgbClr val="243356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74980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Design Choices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584448" y="1371600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135331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05072" y="133502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005072" y="161848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orchestration complexity — every change is attributable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547872" y="2103120"/>
            <a:ext cx="51572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84448" y="2286000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226771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05072" y="224942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Tool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005072" y="253288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prompt to do the reasoning work, not tool variety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547872" y="3017520"/>
            <a:ext cx="51572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84448" y="3200400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84448" y="318211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005072" y="316382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005072" y="344728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and failure category is human-readable and auditable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547872" y="3931920"/>
            <a:ext cx="51572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84448" y="4114800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84448" y="409651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005072" y="407822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First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005072" y="436168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and hypotheses defined before any prompt optimization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&amp; Hypotheses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" y="694944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694944"/>
            <a:ext cx="2057400" cy="42062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" y="69494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01168" y="1197864"/>
            <a:ext cx="18745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Hit@K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31136" y="694944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31136" y="694944"/>
            <a:ext cx="2057400" cy="420624"/>
          </a:xfrm>
          <a:prstGeom prst="rect">
            <a:avLst/>
          </a:prstGeom>
          <a:solidFill>
            <a:srgbClr val="243356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1136" y="69494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22576" y="1197864"/>
            <a:ext cx="18745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2544" y="694944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2544" y="694944"/>
            <a:ext cx="2057400" cy="420624"/>
          </a:xfrm>
          <a:prstGeom prst="rect">
            <a:avLst/>
          </a:prstGeom>
          <a:solidFill>
            <a:srgbClr val="0D7F5F"/>
          </a:solidFill>
          <a:ln w="12700">
            <a:solidFill>
              <a:srgbClr val="0D7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69494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43984" y="1197864"/>
            <a:ext cx="18745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73952" y="694944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694944"/>
            <a:ext cx="2057400" cy="420624"/>
          </a:xfrm>
          <a:prstGeom prst="rect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69494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65392" y="1197864"/>
            <a:ext cx="18745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Quality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Safety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Efficiency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" y="2377440"/>
            <a:ext cx="8357616" cy="47548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" y="2377440"/>
            <a:ext cx="8357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Taxonomy  →  Explains WHY failures occur, not just WHAT failed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" y="2944368"/>
            <a:ext cx="8357616" cy="1965960"/>
          </a:xfrm>
          <a:prstGeom prst="rect">
            <a:avLst/>
          </a:prstGeom>
          <a:solidFill>
            <a:srgbClr val="FFFBEF"/>
          </a:solidFill>
          <a:ln w="19050">
            <a:solidFill>
              <a:srgbClr val="E6A81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9728" y="2944368"/>
            <a:ext cx="91440" cy="196596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2980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Hypotheses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" y="3310128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Multi-hop failures dominate the baseline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Query decomposition improves context recall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34840" y="3310128"/>
            <a:ext cx="3913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Grounding self-check improves citation and trust behavior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— RAI gate improves safety refusals without harming QA quality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 Strategy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" y="694944"/>
            <a:ext cx="2578608" cy="3657600"/>
          </a:xfrm>
          <a:prstGeom prst="rect">
            <a:avLst/>
          </a:prstGeom>
          <a:solidFill>
            <a:srgbClr val="1E2438"/>
          </a:solidFill>
          <a:ln w="12700">
            <a:solidFill>
              <a:srgbClr val="4A303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694944"/>
            <a:ext cx="2578608" cy="566928"/>
          </a:xfrm>
          <a:prstGeom prst="rect">
            <a:avLst/>
          </a:prstGeom>
          <a:solidFill>
            <a:srgbClr val="7A3025"/>
          </a:solidFill>
          <a:ln w="12700">
            <a:solidFill>
              <a:srgbClr val="7A30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69494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" y="10424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(Foil)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353312"/>
            <a:ext cx="2322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Wikipedia search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 generation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classification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withholds answers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64592" y="3712464"/>
            <a:ext cx="2578608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373075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weak — predictable failure modes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52344" y="224942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218688" y="694944"/>
            <a:ext cx="2578608" cy="3657600"/>
          </a:xfrm>
          <a:prstGeom prst="rect">
            <a:avLst/>
          </a:prstGeom>
          <a:solidFill>
            <a:srgbClr val="243356"/>
          </a:solidFill>
          <a:ln w="19050">
            <a:solidFill>
              <a:srgbClr val="34487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694944"/>
            <a:ext cx="2578608" cy="5669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69494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18688" y="10424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46704" y="1353312"/>
            <a:ext cx="2322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classification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decomposition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verification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policy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18688" y="3712464"/>
            <a:ext cx="2578608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373075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retrieval &amp; multi-hop failures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06440" y="224942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6272784" y="694944"/>
            <a:ext cx="2578608" cy="3657600"/>
          </a:xfrm>
          <a:prstGeom prst="rect">
            <a:avLst/>
          </a:prstGeom>
          <a:solidFill>
            <a:srgbClr val="243356"/>
          </a:solidFill>
          <a:ln w="19050">
            <a:solidFill>
              <a:srgbClr val="2A504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694944"/>
            <a:ext cx="2578608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69494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72784" y="10424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353312"/>
            <a:ext cx="2322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behavior fully preserved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RAI safety gate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RAI dataset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evaluator rubrics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72784" y="3712464"/>
            <a:ext cx="2578608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3730752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refusals on harm, no over-refusal on legitimate queries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1168" y="4416552"/>
            <a:ext cx="8741664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4416552"/>
            <a:ext cx="8741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attribute every improvement to a specific, pre-hypothesized prompt change — not luck or model updates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Failure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94944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786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3.71</a:t>
            </a:r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3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773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+0.33 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694944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786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Support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07899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4.04</a:t>
            </a:r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3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773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+0.29 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694944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786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Failures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107899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3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72200" y="1773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" y="2212848"/>
            <a:ext cx="8686800" cy="5303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2128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stayed flat: 4.58 → 4.58   </a:t>
            </a:r>
            <a:pPr indent="0" marL="0">
              <a:buNone/>
            </a:pPr>
            <a:r>
              <a:rPr lang="en-US" sz="11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Sonnet's parametric knowledge saturated this metric — the real signal is retrieval &amp; grounding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8600" y="2834640"/>
            <a:ext cx="8686800" cy="1097280"/>
          </a:xfrm>
          <a:prstGeom prst="rect">
            <a:avLst/>
          </a:prstGeom>
          <a:solidFill>
            <a:srgbClr val="FFFBEF"/>
          </a:solidFill>
          <a:ln w="19050">
            <a:solidFill>
              <a:srgbClr val="E6A81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834640"/>
            <a:ext cx="91440" cy="109728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8712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Evaluator Failures ≠ Model Failures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" y="3163824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rule-based abstention metric appeared to regress (4 → 9 failures). Manual inspection revealed 6 of 9 were correct refusals that simply didn't match the expected phrase pattern. The judge-based score showed abstention quality was effectively unchanged. A metric can look catastrophic while the model is behaving correctly.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8600" y="4023360"/>
            <a:ext cx="8686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0782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Failures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4334256"/>
            <a:ext cx="1137920" cy="173736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334256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v0: 7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" y="4553712"/>
            <a:ext cx="325120" cy="17373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553712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40782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Failures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17520" y="4334256"/>
            <a:ext cx="812800" cy="173736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4334256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v0: 5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17520" y="4553712"/>
            <a:ext cx="325120" cy="17373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4553712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17720" y="40782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Abstention*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4334256"/>
            <a:ext cx="650240" cy="173736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4334256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v0: 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66360" y="4553712"/>
            <a:ext cx="487680" cy="17373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553712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66560" y="40782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Failure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0" y="4334256"/>
            <a:ext cx="975360" cy="173736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4334256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v0: 6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315200" y="4553712"/>
            <a:ext cx="1300480" cy="17373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553712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0040" y="492861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6 of 9 abstention failures are rule metric artifacts — judge score shows abstention quality unchanged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3774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as a Core Evaluation Dimension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8641080" cy="1417320"/>
          </a:xfrm>
          <a:prstGeom prst="rect">
            <a:avLst/>
          </a:prstGeom>
          <a:solidFill>
            <a:srgbClr val="1A2744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14400"/>
            <a:ext cx="109728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69264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system that answers accurately but behaves unsafely is still a failed system."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must measure not just CAN it answer — but SHOULD it answer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2487168"/>
            <a:ext cx="3291840" cy="402336"/>
          </a:xfrm>
          <a:prstGeom prst="rect">
            <a:avLst/>
          </a:prstGeom>
          <a:solidFill>
            <a:srgbClr val="243356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24871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28895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3054096"/>
            <a:ext cx="3291840" cy="402336"/>
          </a:xfrm>
          <a:prstGeom prst="rect">
            <a:avLst/>
          </a:prstGeom>
          <a:solidFill>
            <a:srgbClr val="243356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30540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&amp; Completeness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34564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621024"/>
            <a:ext cx="3291840" cy="402336"/>
          </a:xfrm>
          <a:prstGeom prst="rect">
            <a:avLst/>
          </a:prstGeom>
          <a:solidFill>
            <a:srgbClr val="243356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" y="36210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&amp; Citation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61872" y="40233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4187952"/>
            <a:ext cx="3291840" cy="402336"/>
          </a:xfrm>
          <a:prstGeom prst="rect">
            <a:avLst/>
          </a:prstGeom>
          <a:solidFill>
            <a:srgbClr val="243356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41879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" y="4828032"/>
            <a:ext cx="329184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846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Production Readiness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77640" y="2542032"/>
            <a:ext cx="292608" cy="2926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252374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5237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RAI evaluation dataset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77640" y="3136392"/>
            <a:ext cx="292608" cy="2926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311810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70832" y="31181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Safety-specific evaluator rubrics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977640" y="3730752"/>
            <a:ext cx="292608" cy="2926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371246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70832" y="37124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RAI-guarded prompt (V2)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77640" y="4325112"/>
            <a:ext cx="292608" cy="2926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430682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70832" y="43068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request refusal testing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Evaluation-Driven Wikipedia QA Agent</dc:title>
  <dc:subject>PptxGenJS Presentation</dc:subject>
  <dc:creator>Deepanjan Bhol</dc:creator>
  <cp:lastModifiedBy>Deepanjan Bhol</cp:lastModifiedBy>
  <cp:revision>1</cp:revision>
  <dcterms:created xsi:type="dcterms:W3CDTF">2026-06-01T01:33:30Z</dcterms:created>
  <dcterms:modified xsi:type="dcterms:W3CDTF">2026-06-01T01:33:30Z</dcterms:modified>
</cp:coreProperties>
</file>