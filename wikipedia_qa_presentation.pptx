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320040" cy="5070348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QA Agent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&amp; Evaluation — Take-Home Assignment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2286000" cy="365760"/>
          </a:xfrm>
          <a:prstGeom prst="rect">
            <a:avLst/>
          </a:prstGeom>
          <a:solidFill>
            <a:srgbClr val="4A9FD4">
              <a:alpha val="50000"/>
            </a:srgbClr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Claude Sonnet 4.6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3017520"/>
            <a:ext cx="2286000" cy="365760"/>
          </a:xfrm>
          <a:prstGeom prst="rect">
            <a:avLst/>
          </a:prstGeom>
          <a:solidFill>
            <a:srgbClr val="4A9FD4">
              <a:alpha val="50000"/>
            </a:srgbClr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MediaWiki API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52160" y="3017520"/>
            <a:ext cx="2286000" cy="365760"/>
          </a:xfrm>
          <a:prstGeom prst="rect">
            <a:avLst/>
          </a:prstGeom>
          <a:solidFill>
            <a:srgbClr val="4A9FD4">
              <a:alpha val="50000"/>
            </a:srgbClr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0" y="3017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RAGAS-style Evals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Deepanjan Bhol  ·  deepanjanbhol@gmail.com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Built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46304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144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Question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920240" y="914400"/>
            <a:ext cx="146304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920240" y="9144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Claude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Agent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66160" y="914400"/>
            <a:ext cx="146304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66160" y="9144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search_wikipedia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(MediaWiki API)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94960" y="914400"/>
            <a:ext cx="146304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94960" y="9144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Retrieved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Evidence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223760" y="914400"/>
            <a:ext cx="146304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223760" y="9144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JSON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Answer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737360" y="1371600"/>
            <a:ext cx="274320" cy="0"/>
          </a:xfrm>
          <a:prstGeom prst="line">
            <a:avLst/>
          </a:prstGeom>
          <a:noFill/>
          <a:ln w="25400">
            <a:solidFill>
              <a:srgbClr val="4A9F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01952" y="126187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9FD4"/>
                </a:solidFill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83280" y="1371600"/>
            <a:ext cx="274320" cy="0"/>
          </a:xfrm>
          <a:prstGeom prst="line">
            <a:avLst/>
          </a:prstGeom>
          <a:noFill/>
          <a:ln w="25400">
            <a:solidFill>
              <a:srgbClr val="4A9F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47872" y="126187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9FD4"/>
                </a:solidFill>
              </a:rPr>
              <a:t>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0" y="1371600"/>
            <a:ext cx="274320" cy="0"/>
          </a:xfrm>
          <a:prstGeom prst="line">
            <a:avLst/>
          </a:prstGeom>
          <a:noFill/>
          <a:ln w="25400">
            <a:solidFill>
              <a:srgbClr val="4A9F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93792" y="126187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9FD4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0" y="1371600"/>
            <a:ext cx="274320" cy="0"/>
          </a:xfrm>
          <a:prstGeom prst="line">
            <a:avLst/>
          </a:prstGeom>
          <a:noFill/>
          <a:ln w="25400">
            <a:solidFill>
              <a:srgbClr val="4A9F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22592" y="1261872"/>
            <a:ext cx="18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9FD4"/>
                </a:solidFill>
              </a:rPr>
              <a:t>▶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210312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F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103120"/>
            <a:ext cx="2560320" cy="320040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103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 Prompt Versions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24688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v0 baseline → v1 advanced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→ v2 RAI-guarded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0" y="210312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F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0" y="2103120"/>
            <a:ext cx="2560320" cy="320040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0" y="2103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4-Layer Eval Suite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91840" y="24688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Retrieval · Answer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Grounding · Trust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35040" y="210312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F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35040" y="2103120"/>
            <a:ext cx="2560320" cy="320040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35040" y="2103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Failure Taxonomy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26480" y="24688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7 categories · deterministic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+ Claude tiebreak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5760" y="37490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FA3"/>
                </a:solidFill>
              </a:rPr>
              <a:t>Constraint met: no built-in hosted search — MediaWiki API integrated directly with no external dependencies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Strategy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2743200" cy="4572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v0_base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1704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Intentional Baseline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84048" y="1463040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</a:rPr>
              <a:t>›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Exactly 1 search — no rephrase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975104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</a:rPr>
              <a:t>›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No decomposition allowed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2487168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</a:rPr>
              <a:t>›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Never withhold answer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2999232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</a:rPr>
              <a:t>›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Predictable failure modes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91440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F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914400"/>
            <a:ext cx="2743200" cy="457200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9144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v1_advanced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0" y="11704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Hill-Climb Target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10128" y="1463040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FD4"/>
                </a:solidFill>
              </a:rPr>
              <a:t>›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Classify: factoid/multi-hop/comparison/ambiguous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10128" y="1975104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FD4"/>
                </a:solidFill>
              </a:rPr>
              <a:t>›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Sequential sub-question decomposition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10128" y="2487168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FD4"/>
                </a:solidFill>
              </a:rPr>
              <a:t>›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Grounding self-check before answering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10128" y="2999232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FD4"/>
                </a:solidFill>
              </a:rPr>
              <a:t>›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Abstention: false premise / no evidence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91440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914400"/>
            <a:ext cx="2743200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9144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v2_rai_guarded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26480" y="11704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RAI Extension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36208" y="1463040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</a:rPr>
              <a:t>›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Step 0 safety gate runs first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36208" y="1975104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</a:rPr>
              <a:t>›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Refuses: hate / self-harm / violence / jailbreak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36208" y="2487168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</a:rPr>
              <a:t>›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All v1 QA behavior preserved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36208" y="2999232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</a:rPr>
              <a:t>›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Explicit refusal string on harmful prompts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526280"/>
            <a:ext cx="859536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52628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Key insight: v0 constraints are explicit (not by omission) — this makes failure attribution clean, not accidental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Framework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980B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109728" cy="137160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058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80B9"/>
                </a:solidFill>
              </a:rPr>
              <a:t>Layer 1 · Retrieval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38988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context_precision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context_recall · page_hit@k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8E44A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914400"/>
            <a:ext cx="109728" cy="13716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64608" y="10058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44AD"/>
                </a:solidFill>
              </a:rPr>
              <a:t>Layer 2 · Answer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64608" y="138988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answer_relevancy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correctness · completeness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51460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08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514600"/>
            <a:ext cx="109728" cy="137160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6060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085"/>
                </a:solidFill>
              </a:rPr>
              <a:t>Layer 3 · Grounding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" y="299008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faithfulness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citation_support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251460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514600"/>
            <a:ext cx="109728" cy="13716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64608" y="26060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</a:rPr>
              <a:t>Layer 4 · Trust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64608" y="2990088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abstention_quality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</a:rPr>
              <a:t>search_count · failure_category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4069080"/>
            <a:ext cx="4114800" cy="777240"/>
          </a:xfrm>
          <a:prstGeom prst="rect">
            <a:avLst/>
          </a:prstGeom>
          <a:solidFill>
            <a:srgbClr val="EAF2FB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11480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RAGAS-style judges built from scratch — rubrics are readable and auditable, not a black-box library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4069080"/>
            <a:ext cx="4114800" cy="777240"/>
          </a:xfrm>
          <a:prstGeom prst="rect">
            <a:avLst/>
          </a:prstGeom>
          <a:solidFill>
            <a:srgbClr val="EAF2FB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411480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Failure taxonomy: deterministic first, Claude tiebreak only when signals conflict — reproducible for clear cases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Hill-Climb Story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F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960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FA3"/>
                </a:solidFill>
              </a:rPr>
              <a:t>Retrieval Failures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AAAAA"/>
                </a:solidFill>
              </a:rPr>
              <a:t>7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3000" y="129844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FA3"/>
                </a:solidFill>
              </a:rPr>
              <a:t>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23444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9FD4"/>
                </a:solidFill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" y="1737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</a:rPr>
              <a:t>−5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68880" y="91440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F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68880" y="960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FA3"/>
                </a:solidFill>
              </a:rPr>
              <a:t>Context Recall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68880" y="123444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AAAAA"/>
                </a:solidFill>
              </a:rPr>
              <a:t>3.71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91840" y="129844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FA3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20440" y="123444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9FD4"/>
                </a:solidFill>
              </a:rPr>
              <a:t>4.04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468880" y="1737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</a:rPr>
              <a:t>+0.33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17720" y="91440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F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17720" y="960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FA3"/>
                </a:solidFill>
              </a:rPr>
              <a:t>Citation Support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17720" y="123444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AAAAA"/>
                </a:solidFill>
              </a:rPr>
              <a:t>4.04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440680" y="129844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FA3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69280" y="123444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9FD4"/>
                </a:solidFill>
              </a:rPr>
              <a:t>4.33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617720" y="1737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</a:rPr>
              <a:t>+0.29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766560" y="914400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F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766560" y="9601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FA3"/>
                </a:solidFill>
              </a:rPr>
              <a:t>Avg Searches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66560" y="123444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AAAAA"/>
                </a:solidFill>
              </a:rPr>
              <a:t>1.38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589520" y="129844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FA3"/>
                </a:solidFill>
              </a:rPr>
              <a:t>→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818120" y="123444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9FD4"/>
                </a:solidFill>
              </a:rPr>
              <a:t>3.04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766560" y="1737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</a:rPr>
              <a:t>+1.67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" y="2514600"/>
            <a:ext cx="850392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251460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Correctness: 4.58 → 4.58 (flat) — Claude Sonnet answers from parametric memory. Correctness measures the base model, not the RAG system.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0040" y="320040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Primary optimization target: Failure Taxonomy (not correctness)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65760" y="3611880"/>
            <a:ext cx="0" cy="1188720"/>
          </a:xfrm>
          <a:prstGeom prst="line">
            <a:avLst/>
          </a:prstGeom>
          <a:noFill/>
          <a:ln w="12700">
            <a:solidFill>
              <a:srgbClr val="6B7FA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4800600"/>
            <a:ext cx="8412480" cy="0"/>
          </a:xfrm>
          <a:prstGeom prst="line">
            <a:avLst/>
          </a:prstGeom>
          <a:noFill/>
          <a:ln w="12700">
            <a:solidFill>
              <a:srgbClr val="6B7FA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" y="3968496"/>
            <a:ext cx="292608" cy="832104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24128" y="4562856"/>
            <a:ext cx="292608" cy="237744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3767328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8888"/>
                </a:solidFill>
              </a:rPr>
              <a:t>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24128" y="4361688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9FD4"/>
                </a:solidFill>
              </a:rPr>
              <a:t>2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02920" y="4846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</a:rPr>
              <a:t>Retrieval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0" y="4325112"/>
            <a:ext cx="292608" cy="475488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127248" y="3730752"/>
            <a:ext cx="292608" cy="1069848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0" y="4123944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8888"/>
                </a:solidFill>
              </a:rPr>
              <a:t>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127248" y="3529584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9FD4"/>
                </a:solidFill>
              </a:rPr>
              <a:t>9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606040" y="4846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</a:rPr>
              <a:t>Abstention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846320" y="4087368"/>
            <a:ext cx="292608" cy="71323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230368" y="3849624"/>
            <a:ext cx="292608" cy="950976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46320" y="388620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8888"/>
                </a:solidFill>
              </a:rPr>
              <a:t>6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230368" y="3648456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9FD4"/>
                </a:solidFill>
              </a:rPr>
              <a:t>8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709160" y="4846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</a:rPr>
              <a:t>No Failure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949440" y="4443984"/>
            <a:ext cx="292608" cy="356616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333488" y="4443984"/>
            <a:ext cx="292608" cy="356616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49440" y="4242816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8888"/>
                </a:solidFill>
              </a:rPr>
              <a:t>3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333488" y="4242816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9FD4"/>
                </a:solidFill>
              </a:rPr>
              <a:t>3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812280" y="4846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761"/>
                </a:solidFill>
              </a:rPr>
              <a:t>Generation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315200" y="3657600"/>
            <a:ext cx="201168" cy="164592"/>
          </a:xfrm>
          <a:prstGeom prst="rect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43800" y="363016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FA3"/>
                </a:solidFill>
              </a:rPr>
              <a:t>v0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315200" y="3886200"/>
            <a:ext cx="201168" cy="164592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543800" y="385876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9FD4"/>
                </a:solidFill>
              </a:rPr>
              <a:t>v1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Fails &amp; What I Learned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931920" cy="3474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Key Tradeoff Introduced by v1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</a:rPr>
              <a:t>⚠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Abstention failures: 4 → 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80136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</a:rPr>
              <a:t>⚠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Ambiguous: 5.5 searches avg — more evidence = more confidence = less abstention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27685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</a:rPr>
              <a:t>⚠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Comparison regression (4.75 → 3.75): extra retrieval adds noise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75234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</a:rPr>
              <a:t>⚠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cmp_02 returned empty answer — over-abstention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914400"/>
            <a:ext cx="420624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91440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Key Learnings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13258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FD4"/>
                </a:solidFill>
              </a:rPr>
              <a:t>L1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Correctness is ceilinged — use failure taxonomy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18013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FD4"/>
                </a:solidFill>
              </a:rPr>
              <a:t>L2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Specific instructions drive measurable behavior change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227685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FD4"/>
                </a:solidFill>
              </a:rPr>
              <a:t>L3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Lexical metrics penalize intelligent behavior (rule_abstention)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275234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FD4"/>
                </a:solidFill>
              </a:rPr>
              <a:t>L4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More retrieval ≠ better — search budget matters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322783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FD4"/>
                </a:solidFill>
              </a:rPr>
              <a:t>L5 </a:t>
            </a:r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Ambiguity needs a structural gate, not just stronger prompt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4526280"/>
            <a:ext cx="8595360" cy="384048"/>
          </a:xfrm>
          <a:prstGeom prst="rect">
            <a:avLst/>
          </a:prstGeom>
          <a:solidFill>
            <a:srgbClr val="EAF2FB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454456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2761"/>
                </a:solidFill>
              </a:rPr>
              <a:t>Metric validity finding: rule_abstention_triggered = 0.0 on adversarial looked catastrophic — reading actual answers showed model correctly explaining false premises. Judge score = 1.0.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 Evaluation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FA3"/>
                </a:solidFill>
              </a:rPr>
              <a:t>v2_rai_guarded adds a Step 0 safety gate before any search — refuses harmful content, preserves all v1 QA behavior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71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FA3"/>
                </a:solidFill>
              </a:rPr>
              <a:t>refusal_like_rate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AAAAA"/>
                </a:solidFill>
              </a:rPr>
              <a:t>0.0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17320" y="1764792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FA3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737360" y="16916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7AE60"/>
                </a:solidFill>
              </a:rPr>
              <a:t>0.833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65760" y="2286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✓ improved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37560" y="1371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FA3"/>
                </a:solidFill>
              </a:rPr>
              <a:t>expected_pass_rate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46120" y="16916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AAAAA"/>
                </a:solidFill>
              </a:rPr>
              <a:t>0.167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297680" y="1764792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FA3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17720" y="16916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7AE60"/>
                </a:solidFill>
              </a:rPr>
              <a:t>0.750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246120" y="2286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✓ improved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132588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17920" y="1371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FA3"/>
                </a:solidFill>
              </a:rPr>
              <a:t>general_safe (no over-refusal)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26480" y="16916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AAAAA"/>
                </a:solidFill>
              </a:rPr>
              <a:t>1.0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178040" y="1764792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FA3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498080" y="16916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7AE60"/>
                </a:solidFill>
              </a:rPr>
              <a:t>1.0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126480" y="22860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</a:rPr>
              <a:t>✓ improved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28346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v2 by category: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200400"/>
            <a:ext cx="8412480" cy="329184"/>
          </a:xfrm>
          <a:prstGeom prst="rect">
            <a:avLst/>
          </a:prstGeom>
          <a:solidFill>
            <a:srgbClr val="EAF2FB"/>
          </a:solidFill>
          <a:ln w="12700">
            <a:solidFill>
              <a:srgbClr val="D6E8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2186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hate / self-harm / violence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0" y="32186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</a:rPr>
              <a:t>✓ 1.0 refusal rate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593592"/>
            <a:ext cx="8412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611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sexual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0" y="3611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</a:rPr>
              <a:t>⚠ 1.0 refusal, scoring gap on minors question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3986784"/>
            <a:ext cx="8412480" cy="329184"/>
          </a:xfrm>
          <a:prstGeom prst="rect">
            <a:avLst/>
          </a:prstGeom>
          <a:solidFill>
            <a:srgbClr val="EAF2FB"/>
          </a:solidFill>
          <a:ln w="12700">
            <a:solidFill>
              <a:srgbClr val="D6E8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0050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jailbreak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114800" y="40050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</a:rPr>
              <a:t>⚠ refuses correctly — xpia_label check gap in metric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4379976"/>
            <a:ext cx="84124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3982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general_safe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114800" y="43982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</a:rPr>
              <a:t>✓ no over-refusal, WWI answered correctly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65760" y="480060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FA3"/>
                </a:solidFill>
              </a:rPr>
              <a:t>Backend: claude-safety-judge (semantic — not keyword heuristic)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320040" cy="5070348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 &amp; Time Spent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822960"/>
            <a:ext cx="3749040" cy="320040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229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Immediate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23444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C542"/>
                </a:solidFill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D6E8FA"/>
                </a:solidFill>
              </a:rPr>
              <a:t>Replace lexical abstention rule with semantic judge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70992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C542"/>
                </a:solidFill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D6E8FA"/>
                </a:solidFill>
              </a:rPr>
              <a:t>Add ambiguity stop rule: N searches → abstain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18541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C542"/>
                </a:solidFill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D6E8FA"/>
                </a:solidFill>
              </a:rPr>
              <a:t>Cap search budget by question type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660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C542"/>
                </a:solidFill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D6E8FA"/>
                </a:solidFill>
              </a:rPr>
              <a:t>Add parametric_knowledge_risk flag to dataset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822960"/>
            <a:ext cx="3749040" cy="320040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8229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Longer Term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23444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C542"/>
                </a:solidFill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D6E8FA"/>
                </a:solidFill>
              </a:rPr>
              <a:t>Expand to 50–100 questions, harder multi-hop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92040" y="170992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C542"/>
                </a:solidFill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D6E8FA"/>
                </a:solidFill>
              </a:rPr>
              <a:t>Run same eval on Claude Haiku to isolate prompt vs model gains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218541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C542"/>
                </a:solidFill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D6E8FA"/>
                </a:solidFill>
              </a:rPr>
              <a:t>Track cost/latency Pareto frontier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2660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C542"/>
                </a:solidFill>
              </a:rPr>
              <a:t>→ </a:t>
            </a:r>
            <a:pPr indent="0" marL="0">
              <a:buNone/>
            </a:pPr>
            <a:r>
              <a:rPr lang="en-US" sz="1100" dirty="0">
                <a:solidFill>
                  <a:srgbClr val="D6E8FA"/>
                </a:solidFill>
              </a:rPr>
              <a:t>External RAGAS baseline for comparability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246120"/>
            <a:ext cx="8046720" cy="548640"/>
          </a:xfrm>
          <a:prstGeom prst="rect">
            <a:avLst/>
          </a:prstGeom>
          <a:solidFill>
            <a:srgbClr val="4A9FD4">
              <a:alpha val="20000"/>
            </a:srgbClr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264408"/>
            <a:ext cx="7863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C542"/>
                </a:solidFill>
              </a:rPr>
              <a:t>Time spent: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~6–8 hours across agent build, prompt iteration, eval framework, dataset design, documentation, and RAI evaluation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6E8FA"/>
                </a:solidFill>
              </a:rPr>
              <a:t>hypothesis → evals → failure analysis → targeted iteration → measured improvement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389120"/>
            <a:ext cx="8046720" cy="502920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3891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Thank you — questions welcome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4A9FD4"/>
          </a:solidFill>
          <a:ln w="12700">
            <a:solidFill>
              <a:srgbClr val="4A9FD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Wikipedia QA Agent — Prompt Engineering &amp; Evals</dc:title>
  <dc:subject>PptxGenJS Presentation</dc:subject>
  <dc:creator>PptxGenJS</dc:creator>
  <cp:lastModifiedBy>PptxGenJS</cp:lastModifiedBy>
  <cp:revision>1</cp:revision>
  <dcterms:created xsi:type="dcterms:W3CDTF">2026-05-31T19:48:32Z</dcterms:created>
  <dcterms:modified xsi:type="dcterms:W3CDTF">2026-05-31T19:48:32Z</dcterms:modified>
</cp:coreProperties>
</file>